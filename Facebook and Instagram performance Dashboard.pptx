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125" y="2540635"/>
            <a:ext cx="11289030" cy="1776095"/>
          </a:xfr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0000"/>
          </a:bodyPr>
          <a:p>
            <a:r>
              <a:rPr lang="en-US"/>
              <a:t>Facebook and Instagram performance Dashboard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0770"/>
          </a:xfrm>
        </p:spPr>
        <p:style>
          <a:lnRef idx="2">
            <a:schemeClr val="accent4"/>
          </a:lnRef>
          <a:fillRef idx="2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b="1"/>
              <a:t>Objective of the Analysis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9935"/>
            <a:ext cx="10515600" cy="4157345"/>
          </a:xfrm>
        </p:spPr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measure overall social media performance.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analyze engagement, impressions, and CTR.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compare Facebook vs Instagram.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identify best performing content types.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support data-driven marketing decisions.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525"/>
          </a:xfr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US"/>
              <a:t>Key Performance Indicators (KPIs)</a:t>
            </a:r>
            <a:endParaRPr lang="en-US" altLang="en-US"/>
          </a:p>
        </p:txBody>
      </p:sp>
      <p:pic>
        <p:nvPicPr>
          <p:cNvPr id="7" name="Content Placeholder 6" descr="impressions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36115" y="2698750"/>
            <a:ext cx="2225675" cy="1030605"/>
          </a:xfrm>
          <a:prstGeom prst="rect">
            <a:avLst/>
          </a:prstGeom>
        </p:spPr>
      </p:pic>
      <p:pic>
        <p:nvPicPr>
          <p:cNvPr id="8" name="Picture 7" descr="Engagement r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20" y="2698750"/>
            <a:ext cx="2130425" cy="1045210"/>
          </a:xfrm>
          <a:prstGeom prst="rect">
            <a:avLst/>
          </a:prstGeom>
        </p:spPr>
      </p:pic>
      <p:pic>
        <p:nvPicPr>
          <p:cNvPr id="9" name="Picture 8" descr="CT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115" y="4683760"/>
            <a:ext cx="2225675" cy="1045210"/>
          </a:xfrm>
          <a:prstGeom prst="rect">
            <a:avLst/>
          </a:prstGeom>
        </p:spPr>
      </p:pic>
      <p:pic>
        <p:nvPicPr>
          <p:cNvPr id="10" name="Picture 9" descr="total engag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920" y="4677410"/>
            <a:ext cx="2130425" cy="104584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762125" y="3729355"/>
            <a:ext cx="3173095" cy="715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Total Impressions: 3 Million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328410" y="57289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Total Engagement: 45K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6471920" y="38119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Engagement Rate: 1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1639570" y="57289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Click Through Rate (CTR): 1.69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988060" y="1757045"/>
            <a:ext cx="848550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These KPIs help evaluate reach, interaction, and effectiveness of posts.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6570"/>
            <a:ext cx="10515600" cy="1032510"/>
          </a:xfrm>
        </p:spPr>
        <p:style>
          <a:lnRef idx="2">
            <a:schemeClr val="accent3"/>
          </a:lnRef>
          <a:fillRef idx="2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Platform-wise Post Distribution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Instagram: 28 posts (≈56%)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Facebook: 22 posts (≈44%)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Instagram has slightly higher posting activity compared to Facebook.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by platfor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" y="3529330"/>
            <a:ext cx="3737610" cy="2426335"/>
          </a:xfrm>
          <a:prstGeom prst="rect">
            <a:avLst/>
          </a:prstGeom>
        </p:spPr>
      </p:pic>
      <p:pic>
        <p:nvPicPr>
          <p:cNvPr id="5" name="Picture 4" descr="year and plat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865" y="3529965"/>
            <a:ext cx="3630930" cy="2425700"/>
          </a:xfrm>
          <a:prstGeom prst="rect">
            <a:avLst/>
          </a:prstGeom>
        </p:spPr>
      </p:pic>
      <p:pic>
        <p:nvPicPr>
          <p:cNvPr id="6" name="Picture 5" descr="platformmmm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020" y="3845560"/>
            <a:ext cx="2299970" cy="1650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0610"/>
          </a:xfrm>
        </p:spPr>
        <p:style>
          <a:lnRef idx="0">
            <a:srgbClr val="FFFFFF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US"/>
              <a:t> Engagement by Content Type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Ø"/>
            </a:pPr>
            <a:r>
              <a:rPr lang="en-US" altLang="en-US" sz="2000" b="1" u="sng">
                <a:latin typeface="Times New Roman" panose="02020603050405020304" charset="0"/>
                <a:cs typeface="Times New Roman" panose="02020603050405020304" charset="0"/>
              </a:rPr>
              <a:t>Content types analyzed:</a:t>
            </a:r>
            <a:endParaRPr lang="en-US" altLang="en-US" sz="20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Image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Video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Carousel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 u="sng">
                <a:latin typeface="Times New Roman" panose="02020603050405020304" charset="0"/>
                <a:cs typeface="Times New Roman" panose="02020603050405020304" charset="0"/>
              </a:rPr>
              <a:t>Observation:</a:t>
            </a:r>
            <a:endParaRPr lang="en-US" altLang="en-US" sz="20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Image and Video content show higher engagement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Text content has relatively lower interaction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Carousel posts maintain consistent engagement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courousel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620" y="2098040"/>
            <a:ext cx="2082165" cy="1507490"/>
          </a:xfrm>
          <a:prstGeom prst="rect">
            <a:avLst/>
          </a:prstGeom>
        </p:spPr>
      </p:pic>
      <p:pic>
        <p:nvPicPr>
          <p:cNvPr id="7" name="Picture 6" descr="courousel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445" y="1889125"/>
            <a:ext cx="2866390" cy="2170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1565"/>
          </a:xfr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US"/>
              <a:t>Impressions &amp; Engagement Analysis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Total Impressions: 2,678,406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Total Likes: 24,737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Total Shares: 12,924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endParaRPr lang="en-US" altLang="en-US"/>
          </a:p>
          <a:p>
            <a:pPr>
              <a:buFont typeface="Wingdings" panose="05000000000000000000" charset="0"/>
              <a:buChar char="Ø"/>
            </a:pPr>
            <a:endParaRPr lang="en-US" altLang="en-US"/>
          </a:p>
          <a:p>
            <a:pPr>
              <a:buFont typeface="Wingdings" panose="05000000000000000000" charset="0"/>
              <a:buChar char="Ø"/>
            </a:pPr>
            <a:endParaRPr lang="en-US" altLang="en-US"/>
          </a:p>
          <a:p>
            <a:pPr>
              <a:buFont typeface="Wingdings" panose="05000000000000000000" charset="0"/>
              <a:buChar char="Ø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High impressions indicate strong visibility, while likes and shares show audience interest.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courousel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9415" y="2738755"/>
            <a:ext cx="4232275" cy="2279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0770"/>
          </a:xfrm>
        </p:spPr>
        <p:style>
          <a:lnRef idx="0">
            <a:srgbClr val="FFFFFF"/>
          </a:lnRef>
          <a:fillRef idx="2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Click Through Rate (CTR) Analysis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CTR Value: 1.69%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400" b="1" u="sng">
                <a:latin typeface="Times New Roman" panose="02020603050405020304" charset="0"/>
                <a:cs typeface="Times New Roman" panose="02020603050405020304" charset="0"/>
              </a:rPr>
              <a:t>CTR Meaning:</a:t>
            </a:r>
            <a:endParaRPr lang="en-US" altLang="en-US" sz="24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Percentage of users who clicked after seeing the post.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Indicates effectiveness of content + call-to-action.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CTR of 1.69% shows moderate audience response and scope for optimization.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010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Insights &amp; Findings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Instagram contributes more to engagement.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Image and video posts perform better than text posts.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High impressions but comparatively lower CTR.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Content is visible but can be improved for clicks.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9175"/>
          </a:xfr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Recommendations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Focus more on image &amp; video-based content.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Improve call-to-action (CTA) to increase CTR.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Optimize posting strategy on Instagram.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Test different captions and creatives.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 carousel posts for storytelling and promotions.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6615"/>
          </a:xfrm>
        </p:spPr>
        <p:style>
          <a:lnRef idx="0">
            <a:srgbClr val="FFFFFF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7485"/>
            <a:ext cx="10515600" cy="4709795"/>
          </a:xfrm>
        </p:spPr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dashboard provides a clear view of social media performance.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Instagram is the stronger engagement platform.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Visual content drives better results.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Data insights can help improve future marketing strategies.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8740" y="3556000"/>
            <a:ext cx="6667500" cy="3107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1933</Words>
  <Application>WPS Presentation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Wingdings</vt:lpstr>
      <vt:lpstr>times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DELL</cp:lastModifiedBy>
  <cp:revision>4</cp:revision>
  <dcterms:created xsi:type="dcterms:W3CDTF">2025-07-23T00:59:00Z</dcterms:created>
  <dcterms:modified xsi:type="dcterms:W3CDTF">2026-01-11T17:21:01Z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C6AB3ED206FE4F86BFA1FCBEE5CBD291_13</vt:lpwstr>
  </property>
  <property fmtid="{D5CDD505-2E9C-101B-9397-08002B2CF9AE}" pid="3" name="KSOProductBuildVer">
    <vt:lpwstr>1033-12.2.0.23196</vt:lpwstr>
  </property>
</Properties>
</file>